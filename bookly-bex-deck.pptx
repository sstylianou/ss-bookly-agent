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DECAGON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116403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</a:rPr>
              <a:t>Bex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80360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59FFF"/>
                </a:solidFill>
              </a:rPr>
              <a:t>AI Customer Support Agent for Bookly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3749039"/>
            <a:ext cx="4480560" cy="109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388620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B9AB8"/>
                </a:solidFill>
              </a:rPr>
              <a:t>A trust-first architecture for enterprise customer experience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455E"/>
                </a:solidFill>
              </a:rPr>
              <a:t>Confidential  ·  Prepared by Decagon  ·  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B455E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DECAGON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8"/>
                </a:solidFill>
              </a:rPr>
              <a:t>01  —  THE 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11731752" cy="9144"/>
          </a:xfrm>
          <a:prstGeom prst="rect">
            <a:avLst/>
          </a:prstGeom>
          <a:solidFill>
            <a:srgbClr val="3B4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11731752" cy="1463040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4864" cy="14630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“Great CX agents earn trust before they earn efficiency.”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944368"/>
            <a:ext cx="32004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834640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AB8"/>
                </a:solidFill>
              </a:rPr>
              <a:t>Most support bots fail by hallucinating policies, inventing order details, and giving wrong answers with confidence. This erodes trust faster than any wait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749040"/>
            <a:ext cx="32004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639312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Bex is built around one principle: never fabricate, always know your limits, hand off gracefully when you reach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4553712"/>
            <a:ext cx="32004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4443984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AB8"/>
                </a:solidFill>
              </a:rPr>
              <a:t>Every decision — narrow tool schemas, hard identity guardrails, structured escalation paths — flows directly from this belief. Resolution and trust are not in tension. One enables the other.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455E"/>
                </a:solidFill>
              </a:rPr>
              <a:t>Confidential  ·  Prepared by Decagon  ·  May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B455E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DECAGON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8"/>
                </a:solidFill>
              </a:rPr>
              <a:t>02  — 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11731752" cy="9144"/>
          </a:xfrm>
          <a:prstGeom prst="rect">
            <a:avLst/>
          </a:prstGeom>
          <a:solidFill>
            <a:srgbClr val="3B4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1097280"/>
            <a:ext cx="1984248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097280"/>
            <a:ext cx="1984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9464" y="1097280"/>
            <a:ext cx="27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3784" y="1097280"/>
            <a:ext cx="1984248" cy="658368"/>
          </a:xfrm>
          <a:prstGeom prst="rect">
            <a:avLst/>
          </a:prstGeom>
          <a:solidFill>
            <a:srgbClr val="131B2E"/>
          </a:solidFill>
          <a:ln w="152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3784" y="1097280"/>
            <a:ext cx="1984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Multi-turn
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1097280"/>
            <a:ext cx="27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02351" y="1097280"/>
            <a:ext cx="1984248" cy="658368"/>
          </a:xfrm>
          <a:prstGeom prst="rect">
            <a:avLst/>
          </a:prstGeom>
          <a:solidFill>
            <a:srgbClr val="131B2E"/>
          </a:solidFill>
          <a:ln w="152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1" y="1097280"/>
            <a:ext cx="1984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Claude  +
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599" y="1097280"/>
            <a:ext cx="27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19" y="1097280"/>
            <a:ext cx="1984248" cy="658368"/>
          </a:xfrm>
          <a:prstGeom prst="rect">
            <a:avLst/>
          </a:prstGeom>
          <a:solidFill>
            <a:srgbClr val="131B2E"/>
          </a:solidFill>
          <a:ln w="152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19" y="1097280"/>
            <a:ext cx="1984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Tool
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7" y="1097280"/>
            <a:ext cx="27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19488" y="1097280"/>
            <a:ext cx="1984248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1097280"/>
            <a:ext cx="1984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1993392"/>
            <a:ext cx="2715768" cy="3337560"/>
          </a:xfrm>
          <a:prstGeom prst="rect">
            <a:avLst/>
          </a:prstGeom>
          <a:solidFill>
            <a:srgbClr val="131B2E"/>
          </a:solidFill>
          <a:ln w="9525">
            <a:solidFill>
              <a:srgbClr val="3B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1993392"/>
            <a:ext cx="2715768" cy="3840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1993392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468880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Single agent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944368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Direct Anthropic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419856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No frameworks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895344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One class, one loop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1993392"/>
            <a:ext cx="2715768" cy="3337560"/>
          </a:xfrm>
          <a:prstGeom prst="rect">
            <a:avLst/>
          </a:prstGeom>
          <a:solidFill>
            <a:srgbClr val="131B2E"/>
          </a:solidFill>
          <a:ln w="9525">
            <a:solidFill>
              <a:srgbClr val="3B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27248" y="1993392"/>
            <a:ext cx="2715768" cy="3840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7248" y="1993392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4408" y="2468880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get_order_status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4408" y="2944368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initiate_return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64408" y="3419856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escalate_to_human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4408" y="3895344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All mocked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25896" y="1993392"/>
            <a:ext cx="2715768" cy="3337560"/>
          </a:xfrm>
          <a:prstGeom prst="rect">
            <a:avLst/>
          </a:prstGeom>
          <a:solidFill>
            <a:srgbClr val="131B2E"/>
          </a:solidFill>
          <a:ln w="9525">
            <a:solidFill>
              <a:srgbClr val="3B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25896" y="1993392"/>
            <a:ext cx="2715768" cy="3840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25896" y="1993392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3056" y="2468880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Full conversation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3056" y="2944368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history on every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3056" y="3419856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call — no retrieval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3056" y="3895344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errors possible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24544" y="1993392"/>
            <a:ext cx="2715768" cy="3337560"/>
          </a:xfrm>
          <a:prstGeom prst="rect">
            <a:avLst/>
          </a:prstGeom>
          <a:solidFill>
            <a:srgbClr val="131B2E"/>
          </a:solidFill>
          <a:ln w="9525">
            <a:solidFill>
              <a:srgbClr val="3B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24544" y="1993392"/>
            <a:ext cx="2715768" cy="3840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24544" y="1993392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PROMPTS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468880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Identity (system)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944368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Static policies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3419856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3 guardrails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3895344"/>
            <a:ext cx="2532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·  Few-shot examples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5532120"/>
            <a:ext cx="11731752" cy="502920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8600" y="5532120"/>
            <a:ext cx="54864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532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8"/>
                </a:solidFill>
              </a:rPr>
              <a:t>GUARDRAILS:    1. Bookly scope only    ·    2. Grounded responses — no fabrication    ·    3. No unauthorised data access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455E"/>
                </a:solidFill>
              </a:rPr>
              <a:t>Confidential  ·  Prepared by Decagon  ·  May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465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B455E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DECAGON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8"/>
                </a:solidFill>
              </a:rPr>
              <a:t>03  —  KEY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11731752" cy="9144"/>
          </a:xfrm>
          <a:prstGeom prst="rect">
            <a:avLst/>
          </a:prstGeom>
          <a:solidFill>
            <a:srgbClr val="3B4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3611880" cy="5074920"/>
          </a:xfrm>
          <a:prstGeom prst="rect">
            <a:avLst/>
          </a:prstGeom>
          <a:solidFill>
            <a:srgbClr val="131B2E"/>
          </a:solidFill>
          <a:ln w="9525">
            <a:solidFill>
              <a:srgbClr val="3B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3611880" cy="43891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143000"/>
            <a:ext cx="3611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Narrow Tool Schemas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709928"/>
            <a:ext cx="3209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</a:rPr>
              <a:t>WHAT WE CHOSE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65960"/>
            <a:ext cx="320954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Required fields on every tool. Claude cannot call get_order_status without both order ID and email — the Anthropic API enforces it at the schema level.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364992"/>
            <a:ext cx="3209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THE TRADE-OFF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621024"/>
            <a:ext cx="32095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More schemas to define and maintain as the tool surface grows.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471416"/>
            <a:ext cx="3209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6E"/>
                </a:solidFill>
              </a:rPr>
              <a:t>WHY IT’S WORTH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4727448"/>
            <a:ext cx="32095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Eliminates ambiguous calls. Forces data collection before action. Makes every tool invocation predictable and auditable.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41648" y="1143000"/>
            <a:ext cx="3611880" cy="5074920"/>
          </a:xfrm>
          <a:prstGeom prst="rect">
            <a:avLst/>
          </a:prstGeom>
          <a:solidFill>
            <a:srgbClr val="131B2E"/>
          </a:solidFill>
          <a:ln w="9525">
            <a:solidFill>
              <a:srgbClr val="3B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41648" y="1143000"/>
            <a:ext cx="3611880" cy="43891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41648" y="1143000"/>
            <a:ext cx="3611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Full History, Not 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1709928"/>
            <a:ext cx="3209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</a:rPr>
              <a:t>WHAT WE CHOSE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816" y="1965960"/>
            <a:ext cx="320954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Every Claude call receives the complete conversation history. No vector store, no retrieval step, no embedding pipeline.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3364992"/>
            <a:ext cx="3209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THE TRADE-OFF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3621024"/>
            <a:ext cx="32095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Token cost grows linearly with conversation length.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4471416"/>
            <a:ext cx="3209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6E"/>
                </a:solidFill>
              </a:rPr>
              <a:t>WHY IT’S WORTH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2816" y="4727448"/>
            <a:ext cx="32095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Support conversations run &lt;20 turns. Zero retrieval errors. Claude has full context for nuanced follow-ups. RAG makes sense at scale — not here.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54696" y="1143000"/>
            <a:ext cx="3611880" cy="5074920"/>
          </a:xfrm>
          <a:prstGeom prst="rect">
            <a:avLst/>
          </a:prstGeom>
          <a:solidFill>
            <a:srgbClr val="131B2E"/>
          </a:solidFill>
          <a:ln w="9525">
            <a:solidFill>
              <a:srgbClr val="3B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54696" y="1143000"/>
            <a:ext cx="3611880" cy="43891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54696" y="1143000"/>
            <a:ext cx="3611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Prompt-Driven Clarification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1709928"/>
            <a:ext cx="3209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</a:rPr>
              <a:t>WHAT WE CHOSE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1965960"/>
            <a:ext cx="320954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Claude decides when to ask for more information, guided by guardrails and few-shot examples — not a hardcoded intent classifier or decision tree.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4" y="3364992"/>
            <a:ext cx="3209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THE TRADE-OFF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3621024"/>
            <a:ext cx="32095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Slightly less deterministic than rule-based routing.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5864" y="4471416"/>
            <a:ext cx="3209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6E"/>
                </a:solidFill>
              </a:rPr>
              <a:t>WHY IT’S WORTH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55864" y="4727448"/>
            <a:ext cx="32095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8"/>
                </a:solidFill>
              </a:rPr>
              <a:t>Handles ambiguous phrasing naturally. Behaviour updated by editing the prompt, not redeploying code. Scales to new use cases without new routing logic.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455E"/>
                </a:solidFill>
              </a:rPr>
              <a:t>Confidential  ·  Prepared by Decagon  ·  May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B455E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DECAGON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8"/>
                </a:solidFill>
              </a:rPr>
              <a:t>04  —  WHAT WE’D DO DIFFERENTLY IN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11731752" cy="9144"/>
          </a:xfrm>
          <a:prstGeom prst="rect">
            <a:avLst/>
          </a:prstGeom>
          <a:solidFill>
            <a:srgbClr val="3B4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438912" cy="8412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188720"/>
            <a:ext cx="43891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" y="1188720"/>
            <a:ext cx="4956048" cy="841248"/>
          </a:xfrm>
          <a:prstGeom prst="rect">
            <a:avLst/>
          </a:prstGeom>
          <a:solidFill>
            <a:srgbClr val="131B2E"/>
          </a:solidFill>
          <a:ln w="6350">
            <a:solidFill>
              <a:srgbClr val="3B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252728"/>
            <a:ext cx="4773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Auth Before the Conversation Starts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554480"/>
            <a:ext cx="4773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8"/>
                </a:solidFill>
              </a:rPr>
              <a:t>Replace mid-chat email checks with session tokens or OTP at login. Identity confirmed once — not per request.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79592" y="1188720"/>
            <a:ext cx="438912" cy="8412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9592" y="1188720"/>
            <a:ext cx="43891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18504" y="1188720"/>
            <a:ext cx="4956048" cy="841248"/>
          </a:xfrm>
          <a:prstGeom prst="rect">
            <a:avLst/>
          </a:prstGeom>
          <a:solidFill>
            <a:srgbClr val="131B2E"/>
          </a:solidFill>
          <a:ln w="6350">
            <a:solidFill>
              <a:srgbClr val="3B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252728"/>
            <a:ext cx="4773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RAG for Policy Knowledge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1554480"/>
            <a:ext cx="4773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8"/>
                </a:solidFill>
              </a:rPr>
              <a:t>Replace the static context string with vector search over a full policy library. Scales to hundreds of pages without bloating every prompt.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31136"/>
            <a:ext cx="438912" cy="8412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" y="2231136"/>
            <a:ext cx="43891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2231136"/>
            <a:ext cx="4956048" cy="841248"/>
          </a:xfrm>
          <a:prstGeom prst="rect">
            <a:avLst/>
          </a:prstGeom>
          <a:solidFill>
            <a:srgbClr val="131B2E"/>
          </a:solidFill>
          <a:ln w="6350">
            <a:solidFill>
              <a:srgbClr val="3B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295144"/>
            <a:ext cx="4773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Streaming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596896"/>
            <a:ext cx="4773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8"/>
                </a:solidFill>
              </a:rPr>
              <a:t>Use the Anthropic streaming API so responses appear progressively. Critical for perceived latency on longer, tool-chained answers.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79592" y="2231136"/>
            <a:ext cx="438912" cy="8412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9592" y="2231136"/>
            <a:ext cx="43891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18504" y="2231136"/>
            <a:ext cx="4956048" cy="841248"/>
          </a:xfrm>
          <a:prstGeom prst="rect">
            <a:avLst/>
          </a:prstGeom>
          <a:solidFill>
            <a:srgbClr val="131B2E"/>
          </a:solidFill>
          <a:ln w="6350">
            <a:solidFill>
              <a:srgbClr val="3B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2295144"/>
            <a:ext cx="4773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Evaluation Harness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596896"/>
            <a:ext cx="4773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8"/>
                </a:solidFill>
              </a:rPr>
              <a:t>Systematic test cases for every guardrail, flow, and edge case — run automatically on every prompt change before production deployment.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273552"/>
            <a:ext cx="438912" cy="8412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3273552"/>
            <a:ext cx="43891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" y="3273552"/>
            <a:ext cx="4956048" cy="841248"/>
          </a:xfrm>
          <a:prstGeom prst="rect">
            <a:avLst/>
          </a:prstGeom>
          <a:solidFill>
            <a:srgbClr val="131B2E"/>
          </a:solidFill>
          <a:ln w="6350">
            <a:solidFill>
              <a:srgbClr val="3B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337560"/>
            <a:ext cx="4773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Real Helpdesk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639312"/>
            <a:ext cx="4773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8"/>
                </a:solidFill>
              </a:rPr>
              <a:t>escalate_to_human() posts to Zendesk / Intercom with full conversation context and the customer record — not a mock ticket ID.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79592" y="3273552"/>
            <a:ext cx="438912" cy="8412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79592" y="3273552"/>
            <a:ext cx="43891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18504" y="3273552"/>
            <a:ext cx="4956048" cy="841248"/>
          </a:xfrm>
          <a:prstGeom prst="rect">
            <a:avLst/>
          </a:prstGeom>
          <a:solidFill>
            <a:srgbClr val="131B2E"/>
          </a:solidFill>
          <a:ln w="6350">
            <a:solidFill>
              <a:srgbClr val="3B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3337560"/>
            <a:ext cx="4773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Structured Logging &amp; Audit Trail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3639312"/>
            <a:ext cx="4773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8"/>
                </a:solidFill>
              </a:rPr>
              <a:t>Every tool call, result, and model response logged for GDPR compliance, CSAT analysis, and prompt regression debugging.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3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455E"/>
                </a:solidFill>
              </a:rPr>
              <a:t>Confidential  ·  Prepared by Decagon  ·  May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465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B455E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